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35"/>
  </p:notesMasterIdLst>
  <p:sldIdLst>
    <p:sldId id="256" r:id="rId2"/>
    <p:sldId id="299" r:id="rId3"/>
    <p:sldId id="275" r:id="rId4"/>
    <p:sldId id="317" r:id="rId5"/>
    <p:sldId id="319" r:id="rId6"/>
    <p:sldId id="321" r:id="rId7"/>
    <p:sldId id="324" r:id="rId8"/>
    <p:sldId id="316" r:id="rId9"/>
    <p:sldId id="258" r:id="rId10"/>
    <p:sldId id="259" r:id="rId11"/>
    <p:sldId id="261" r:id="rId12"/>
    <p:sldId id="302" r:id="rId13"/>
    <p:sldId id="300" r:id="rId14"/>
    <p:sldId id="301" r:id="rId15"/>
    <p:sldId id="303" r:id="rId16"/>
    <p:sldId id="307" r:id="rId17"/>
    <p:sldId id="304" r:id="rId18"/>
    <p:sldId id="305" r:id="rId19"/>
    <p:sldId id="306" r:id="rId20"/>
    <p:sldId id="308" r:id="rId21"/>
    <p:sldId id="309" r:id="rId22"/>
    <p:sldId id="310" r:id="rId23"/>
    <p:sldId id="315" r:id="rId24"/>
    <p:sldId id="311" r:id="rId25"/>
    <p:sldId id="312" r:id="rId26"/>
    <p:sldId id="313" r:id="rId27"/>
    <p:sldId id="325" r:id="rId28"/>
    <p:sldId id="322" r:id="rId29"/>
    <p:sldId id="323" r:id="rId30"/>
    <p:sldId id="293" r:id="rId31"/>
    <p:sldId id="298" r:id="rId32"/>
    <p:sldId id="292" r:id="rId33"/>
    <p:sldId id="29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9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78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E7A9F-7799-4F39-A586-12C72FA0BA41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F413-6ACB-4055-AFA3-4FDA2F8A1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96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 on how it’s impossible to follow someone like Walter.</a:t>
            </a:r>
          </a:p>
          <a:p>
            <a:r>
              <a:rPr lang="en-US" dirty="0"/>
              <a:t>Family medical emergency.</a:t>
            </a:r>
          </a:p>
          <a:p>
            <a:r>
              <a:rPr lang="en-US" dirty="0"/>
              <a:t>Thank staff for their work and help with last years last-minute emergency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CF413-6ACB-4055-AFA3-4FDA2F8A10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82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I appear to have not yet talked about LLMs in the standard library.</a:t>
            </a:r>
          </a:p>
          <a:p>
            <a:r>
              <a:rPr lang="en-US" dirty="0"/>
              <a:t>Note that the prior libraries discussed where all built with LLMs.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CF413-6ACB-4055-AFA3-4FDA2F8A102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683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91C56-A511-D173-45F1-5A976D0E0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5B1923-AE07-1B1F-BF6F-20C9F68DE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3B4A7-6EDF-26C8-A879-95FC23430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712A-4E9E-4AE7-9549-4FAFE44E12B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7F848-5152-CF44-3E5F-04FDF63D9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5DAE9-CAAF-1516-C253-E4E6D8740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B070-C03E-41BA-A299-6B845ADD3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83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9EECA-64C0-BC30-5209-EE9F6F039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FF85F-47A1-3A11-158B-FBE5954E8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0EA66-F797-7616-2919-A42DA5CD0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0AADC-F425-460D-9D5F-EC0446BFA4C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89756-D47C-5C48-39C3-668FAE9EA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2F636-ADFC-E350-2834-CCAA017A2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3F1D-2DD4-4FE7-8143-A7B96B5B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051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15EE5-93BD-8954-0993-118ACA839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99647-AA7E-0EE6-A666-D3C5431D5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75F00-422C-3BDD-BCD7-F283C3446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712A-4E9E-4AE7-9549-4FAFE44E12B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FB23A-A2B0-2C86-1CAF-A93E51FC0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6FE2C-806F-F4EF-679A-76856F8BC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B070-C03E-41BA-A299-6B845ADD3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586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F45DA-4A4E-448A-6A83-0170C5DD5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D9D61-90C5-F4F9-F519-F6D190904D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830080-A518-5138-82A7-69E1F7B0D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996E41-20C8-F073-1BD1-3B790248E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712A-4E9E-4AE7-9549-4FAFE44E12B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7BE85-B0E4-9EFA-C407-693F8072A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6C9120-2117-BF11-61BE-12F2D249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B070-C03E-41BA-A299-6B845ADD3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89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7B7F-242C-DDF7-38AD-73A1C6FC5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688B5-EB97-696F-F59B-73FB908B8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75ECB0-657B-3E25-DB94-D54D4DABA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FEEE44-3D1B-34F0-17E2-414E0CC7C0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CA7CAF-F441-795B-F5FB-D4096ED962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C003A3-BD8E-8D08-8C30-EF6D6A584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712A-4E9E-4AE7-9549-4FAFE44E12B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ED79DD-41CE-3420-1AC0-EB1CE9704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DDDDB3-5FEB-DCE9-FBA2-A34A57957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B070-C03E-41BA-A299-6B845ADD3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220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B2650-62A8-41A6-28BF-0731877C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DBBDA3-F47B-0E61-EC57-27F3EC831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712A-4E9E-4AE7-9549-4FAFE44E12B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F62549-60A8-447F-FE17-6120D1C83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7ADBE-2047-8A9D-33E6-D87232E31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B070-C03E-41BA-A299-6B845ADD3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547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F8074E-8E42-B41F-1B93-0930583CB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712A-4E9E-4AE7-9549-4FAFE44E12B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1B89F-4B36-586F-0788-9694E137D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FA085-2025-0F04-9BE5-BA18E4C0B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B070-C03E-41BA-A299-6B845ADD3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913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0A2F6-0A57-C5E6-BD57-BF6028A4F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EB6ED-D27D-4762-F16B-5B49BD9B8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67CF1-916B-B4DF-3071-3E610058D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C9F72-5A36-86BA-13C7-33B49E863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712A-4E9E-4AE7-9549-4FAFE44E12B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A520C-4CAD-3F10-5698-000A5D815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19673-A545-5D84-F2A5-658BBF0A0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B070-C03E-41BA-A299-6B845ADD3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007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6BC79-9DF3-BEE5-8592-67CAF115B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D04430-3C00-7358-11FE-B1A561CF9D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7960AA-A730-F0F2-C2DA-E10EE7DBF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D08593-0C58-178E-29C1-0404FC4B9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712A-4E9E-4AE7-9549-4FAFE44E12B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6E6081-CF0D-A489-DF48-D3EDB669B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67406-719A-C509-5E8C-C425E8C0B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B070-C03E-41BA-A299-6B845ADD3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8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1506-8260-1692-FBB4-FF71A0513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6223B-FF8F-F387-2D54-2BE90E3C2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5366A-66DC-F73A-CC91-C77B1C1BD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712A-4E9E-4AE7-9549-4FAFE44E12B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43E77-5703-9A40-93BF-6AFA808B4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09D76-0D49-2305-D06D-3BCB13C8C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B070-C03E-41BA-A299-6B845ADD3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85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658CEB-686F-CAF6-3106-0307CA01DF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C9AE5-3BF7-5DA3-2269-B0F7FCB04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48959-A422-13ED-817B-2F2CAFC7E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712A-4E9E-4AE7-9549-4FAFE44E12B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F6E26-E744-4EF0-F436-F9E53D849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4AE59-39F3-1A9F-0FF7-3A1C4E473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B070-C03E-41BA-A299-6B845ADD3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15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3D25B4-3B79-9DA8-F6D9-E9507105B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1F601-F39B-472F-3AC0-F076E68CE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131AB-8025-5408-7BC2-4E082DCE48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2A712A-4E9E-4AE7-9549-4FAFE44E12B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984DD-2DD7-0547-AD87-D2B96B766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D6942-4985-76A1-6BAC-357A18C43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3EB070-C03E-41BA-A299-6B845ADD3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3541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ightBender/phobos.sys.exttype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ightBender/phobos.sys.exttypes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ightBender/phobos.text.stringbuilder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ightBender/phobos.data.compression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ightBender/phobos.database.sql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mailto:adamdjwilson@gmail.com" TargetMode="External"/><Relationship Id="rId2" Type="http://schemas.openxmlformats.org/officeDocument/2006/relationships/hyperlink" Target="https://github.com/lightbende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38F96-01D6-2C46-543E-102B3B3E69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LLMs in the Standard Library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7A0C3-B72D-6433-0215-529CCDEA6A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751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ACD5BF-3E4D-049C-1459-F3BDE8BF7D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21" b="362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532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EB2BC-2231-2798-037F-5FFF73CAFE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Why Phobos 3?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21D6F7-E21F-59DF-2304-F719D015D2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5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53547-F01C-4285-D257-3CA4B799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Walter’s Original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4889D-0E65-EF50-7D62-3A6863111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 </a:t>
            </a:r>
            <a:r>
              <a:rPr lang="en-US" dirty="0" err="1"/>
              <a:t>Autodecoding</a:t>
            </a:r>
            <a:endParaRPr lang="en-US" dirty="0"/>
          </a:p>
          <a:p>
            <a:pPr lvl="1"/>
            <a:r>
              <a:rPr lang="en-US" dirty="0"/>
              <a:t>No 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wchar</a:t>
            </a:r>
            <a:r>
              <a:rPr lang="en-US" dirty="0"/>
              <a:t> or 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dchar</a:t>
            </a:r>
            <a:r>
              <a:rPr lang="en-US" dirty="0"/>
              <a:t>.</a:t>
            </a:r>
          </a:p>
          <a:p>
            <a:r>
              <a:rPr lang="en-US" dirty="0"/>
              <a:t>Reduce Template Usage</a:t>
            </a:r>
          </a:p>
          <a:p>
            <a:r>
              <a:rPr lang="en-US" dirty="0"/>
              <a:t>No Exceptions</a:t>
            </a:r>
          </a:p>
          <a:p>
            <a:pPr lvl="1"/>
            <a:r>
              <a:rPr lang="en-US" dirty="0"/>
              <a:t>Unicode throws on invalid characters, use replacement char instead.</a:t>
            </a:r>
          </a:p>
          <a:p>
            <a:r>
              <a:rPr lang="en-US" dirty="0"/>
              <a:t>No GC</a:t>
            </a:r>
          </a:p>
          <a:p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std.stdio</a:t>
            </a:r>
            <a:r>
              <a:rPr lang="en-US" dirty="0">
                <a:cs typeface="Cascadia Code" panose="020B0609020000020004" pitchFamily="49" charset="0"/>
              </a:rPr>
              <a:t> Rebuild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117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76D1B-111F-741F-8B1D-F471C09CA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6D1A9-2DE2-1F51-DEDE-F0A1E1F2E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Walter’s Goals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B66D5-443A-722F-A6FC-0EDA6761D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 </a:t>
            </a:r>
            <a:r>
              <a:rPr lang="en-US" dirty="0" err="1"/>
              <a:t>Autodecoding</a:t>
            </a:r>
            <a:r>
              <a:rPr lang="en-US" dirty="0"/>
              <a:t> ✅</a:t>
            </a:r>
          </a:p>
          <a:p>
            <a:pPr lvl="1"/>
            <a:r>
              <a:rPr lang="en-US" dirty="0"/>
              <a:t>No 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wchar</a:t>
            </a:r>
            <a:r>
              <a:rPr lang="en-US" dirty="0"/>
              <a:t> or 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dchar</a:t>
            </a:r>
            <a:r>
              <a:rPr lang="en-US" dirty="0"/>
              <a:t>. ✅</a:t>
            </a:r>
          </a:p>
          <a:p>
            <a:r>
              <a:rPr lang="en-US" b="1" i="1" u="sng" dirty="0"/>
              <a:t>Reduce</a:t>
            </a:r>
            <a:r>
              <a:rPr lang="en-US" dirty="0"/>
              <a:t> Template Usage ✅</a:t>
            </a:r>
          </a:p>
          <a:p>
            <a:r>
              <a:rPr lang="en-US" dirty="0"/>
              <a:t>No Exceptions 🚫- </a:t>
            </a:r>
            <a:r>
              <a:rPr lang="en-US" dirty="0" err="1"/>
              <a:t>BaseD</a:t>
            </a:r>
            <a:endParaRPr lang="en-US" dirty="0"/>
          </a:p>
          <a:p>
            <a:pPr lvl="1"/>
            <a:r>
              <a:rPr lang="en-US" dirty="0"/>
              <a:t>Unicode throws on invalid characters, use replacement char instead. ✅</a:t>
            </a:r>
          </a:p>
          <a:p>
            <a:r>
              <a:rPr lang="en-US" dirty="0"/>
              <a:t>No GC 🚫- </a:t>
            </a:r>
            <a:r>
              <a:rPr lang="en-US" dirty="0" err="1"/>
              <a:t>BaseD</a:t>
            </a:r>
            <a:endParaRPr lang="en-US" dirty="0"/>
          </a:p>
          <a:p>
            <a:r>
              <a:rPr lang="en-US" dirty="0">
                <a:cs typeface="Cascadia Code" panose="020B0609020000020004" pitchFamily="49" charset="0"/>
              </a:rPr>
              <a:t>Rebuild 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std.stdio</a:t>
            </a:r>
            <a:r>
              <a:rPr lang="en-US" dirty="0">
                <a:cs typeface="Cascadia Code" panose="020B0609020000020004" pitchFamily="49" charset="0"/>
              </a:rPr>
              <a:t> </a:t>
            </a:r>
            <a:r>
              <a:rPr lang="en-US" dirty="0"/>
              <a:t>✅</a:t>
            </a:r>
            <a:endParaRPr lang="en-US" dirty="0">
              <a:cs typeface="Cascadia Code" panose="020B06090200000200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13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A672D-2B66-487F-75B5-C9946565C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Phobos 3?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BE762-84F3-0CF3-957F-5565E87D6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changes require a system wide code audit.</a:t>
            </a:r>
          </a:p>
          <a:p>
            <a:pPr lvl="1"/>
            <a:r>
              <a:rPr lang="en-US" dirty="0"/>
              <a:t>These audits are difficult to get 100% correct.</a:t>
            </a:r>
          </a:p>
          <a:p>
            <a:r>
              <a:rPr lang="en-US" dirty="0"/>
              <a:t>These changes will break every user of Phobos 2 in some way.</a:t>
            </a:r>
          </a:p>
          <a:p>
            <a:r>
              <a:rPr lang="en-US" dirty="0"/>
              <a:t>We can now change other long-standing design choices.</a:t>
            </a:r>
          </a:p>
          <a:p>
            <a:pPr lvl="1"/>
            <a:r>
              <a:rPr lang="en-US" dirty="0"/>
              <a:t>Banning Attributes avoids “encasing the code in concrete”.</a:t>
            </a:r>
          </a:p>
          <a:p>
            <a:pPr lvl="2"/>
            <a:r>
              <a:rPr lang="en-US" dirty="0"/>
              <a:t>Once an attribute is added, it can never be removed.</a:t>
            </a:r>
          </a:p>
          <a:p>
            <a:pPr lvl="1"/>
            <a:r>
              <a:rPr lang="en-US" dirty="0"/>
              <a:t>Fix naming inconsistencies.</a:t>
            </a:r>
          </a:p>
          <a:p>
            <a:pPr lvl="1"/>
            <a:r>
              <a:rPr lang="en-US" dirty="0"/>
              <a:t>Improve error handling.</a:t>
            </a:r>
          </a:p>
        </p:txBody>
      </p:sp>
    </p:spTree>
    <p:extLst>
      <p:ext uri="{BB962C8B-B14F-4D97-AF65-F5344CB8AC3E}">
        <p14:creationId xmlns:p14="http://schemas.microsoft.com/office/powerpoint/2010/main" val="858334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80835-E4AB-1E88-54D9-DAB4E446C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Where is </a:t>
            </a:r>
            <a:r>
              <a:rPr lang="en-US" dirty="0" err="1"/>
              <a:t>BaseD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04A07-46D8-0CA1-3CDF-ED5CE0E26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remains the proposed resolution to the lack of </a:t>
            </a:r>
            <a:r>
              <a:rPr lang="en-US" dirty="0" err="1"/>
              <a:t>nogc</a:t>
            </a:r>
            <a:r>
              <a:rPr lang="en-US" dirty="0"/>
              <a:t>/</a:t>
            </a:r>
            <a:r>
              <a:rPr lang="en-US" dirty="0" err="1"/>
              <a:t>nothrow</a:t>
            </a:r>
            <a:r>
              <a:rPr lang="en-US" dirty="0"/>
              <a:t> attributes in </a:t>
            </a:r>
            <a:r>
              <a:rPr lang="en-US" dirty="0" err="1"/>
              <a:t>Phobs</a:t>
            </a:r>
            <a:r>
              <a:rPr lang="en-US" dirty="0"/>
              <a:t> 3.</a:t>
            </a:r>
          </a:p>
          <a:p>
            <a:pPr lvl="1"/>
            <a:r>
              <a:rPr lang="en-US" dirty="0"/>
              <a:t>No active work submitted to date.</a:t>
            </a:r>
          </a:p>
          <a:p>
            <a:r>
              <a:rPr lang="en-US" dirty="0"/>
              <a:t>It is currently </a:t>
            </a:r>
            <a:r>
              <a:rPr lang="en-US" dirty="0" err="1"/>
              <a:t>unresourced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We don’t have enough people to tackle Phobos 3.</a:t>
            </a:r>
          </a:p>
          <a:p>
            <a:pPr lvl="1"/>
            <a:r>
              <a:rPr lang="en-US" dirty="0"/>
              <a:t>Outside High-Performance use cases it has seen little interest.</a:t>
            </a:r>
          </a:p>
          <a:p>
            <a:pPr lvl="1"/>
            <a:r>
              <a:rPr lang="en-US" dirty="0"/>
              <a:t>Volunteers needed!</a:t>
            </a:r>
          </a:p>
        </p:txBody>
      </p:sp>
    </p:spTree>
    <p:extLst>
      <p:ext uri="{BB962C8B-B14F-4D97-AF65-F5344CB8AC3E}">
        <p14:creationId xmlns:p14="http://schemas.microsoft.com/office/powerpoint/2010/main" val="3402976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3DDE3-86C7-EB3C-610B-2BC674F05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6EDDE-C0A5-D094-18EA-615C49FEE8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Status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5EEA31-0A2C-DF53-6105-825A3E4F84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74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3EC7A-4BEA-C272-5A78-91ED81544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Where Are We Today?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506CA-AFC3-6761-AEBD-B7FAEF9DE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latin typeface="Aptos" panose="020B0004020202020204" pitchFamily="34" charset="0"/>
              </a:rPr>
              <a:t>Usable Today</a:t>
            </a:r>
          </a:p>
          <a:p>
            <a:pPr lvl="1"/>
            <a:r>
              <a:rPr lang="en-US" sz="20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phobos.sys</a:t>
            </a:r>
          </a:p>
          <a:p>
            <a:pPr lvl="2"/>
            <a:r>
              <a:rPr lang="en-US" sz="20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compiler</a:t>
            </a:r>
          </a:p>
          <a:p>
            <a:pPr lvl="2"/>
            <a:r>
              <a:rPr lang="en-US" sz="20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system</a:t>
            </a:r>
          </a:p>
          <a:p>
            <a:pPr lvl="2"/>
            <a:r>
              <a:rPr lang="en-US" sz="20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meta</a:t>
            </a:r>
          </a:p>
          <a:p>
            <a:pPr lvl="2"/>
            <a:r>
              <a:rPr lang="en-US" sz="20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traits</a:t>
            </a:r>
          </a:p>
          <a:p>
            <a:endParaRPr lang="en-US" sz="2000" dirty="0"/>
          </a:p>
          <a:p>
            <a:r>
              <a:rPr lang="en-US" sz="2200" dirty="0">
                <a:latin typeface="Aptos" panose="020B0004020202020204" pitchFamily="34" charset="0"/>
              </a:rPr>
              <a:t>Not Considered Stable</a:t>
            </a:r>
          </a:p>
          <a:p>
            <a:r>
              <a:rPr lang="en-US" sz="2200" b="1" dirty="0">
                <a:latin typeface="Aptos" panose="020B0004020202020204" pitchFamily="34" charset="0"/>
              </a:rPr>
              <a:t>Symbols May Change!</a:t>
            </a:r>
          </a:p>
          <a:p>
            <a:r>
              <a:rPr lang="en-US" sz="2200" b="1" dirty="0">
                <a:latin typeface="Aptos" panose="020B0004020202020204" pitchFamily="34" charset="0"/>
              </a:rPr>
              <a:t>Available in 2.114</a:t>
            </a:r>
          </a:p>
        </p:txBody>
      </p:sp>
    </p:spTree>
    <p:extLst>
      <p:ext uri="{BB962C8B-B14F-4D97-AF65-F5344CB8AC3E}">
        <p14:creationId xmlns:p14="http://schemas.microsoft.com/office/powerpoint/2010/main" val="595399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FB01A-A001-905B-6ED1-F301C766A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Where Are We Today?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860A2-3767-A1BE-9F8E-7F1DCF50D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Progress</a:t>
            </a:r>
          </a:p>
          <a:p>
            <a:pPr lvl="1"/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phobos.sys.range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lvl="1"/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phobos.sys.decimal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lvl="2"/>
            <a:r>
              <a:rPr lang="en-US" dirty="0">
                <a:cs typeface="Cascadia Code" panose="020B0609020000020004" pitchFamily="49" charset="0"/>
              </a:rPr>
              <a:t>See: 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phobos.sys.exttypes</a:t>
            </a:r>
            <a:r>
              <a:rPr lang="en-US" dirty="0">
                <a:cs typeface="Cascadia Code" panose="020B0609020000020004" pitchFamily="49" charset="0"/>
              </a:rPr>
              <a:t> </a:t>
            </a:r>
          </a:p>
          <a:p>
            <a:pPr lvl="2"/>
            <a:r>
              <a:rPr lang="en-US" dirty="0">
                <a:cs typeface="Cascadia Code" panose="020B0609020000020004" pitchFamily="49" charset="0"/>
              </a:rPr>
              <a:t>Repo also contains </a:t>
            </a:r>
            <a:r>
              <a:rPr lang="en-US" dirty="0" err="1">
                <a:cs typeface="Cascadia Code" panose="020B0609020000020004" pitchFamily="49" charset="0"/>
              </a:rPr>
              <a:t>SemVer</a:t>
            </a:r>
            <a:r>
              <a:rPr lang="en-US" dirty="0">
                <a:cs typeface="Cascadia Code" panose="020B0609020000020004" pitchFamily="49" charset="0"/>
              </a:rPr>
              <a:t> and Network Address types. </a:t>
            </a:r>
          </a:p>
          <a:p>
            <a:pPr lvl="2"/>
            <a:r>
              <a:rPr lang="en-US" dirty="0">
                <a:cs typeface="Cascadia Code" panose="020B0609020000020004" pitchFamily="49" charset="0"/>
              </a:rPr>
              <a:t>GitHub: </a:t>
            </a:r>
            <a:r>
              <a:rPr lang="en-US" dirty="0">
                <a:cs typeface="Cascadia Code" panose="020B0609020000020004" pitchFamily="49" charset="0"/>
                <a:hlinkClick r:id="rId2"/>
              </a:rPr>
              <a:t>https://github.com/LightBender/phobos.sys.exttypes</a:t>
            </a:r>
            <a:endParaRPr lang="en-US" dirty="0">
              <a:cs typeface="Cascadia Code" panose="020B0609020000020004" pitchFamily="49" charset="0"/>
            </a:endParaRPr>
          </a:p>
          <a:p>
            <a:pPr lvl="1"/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phobos.sys.optional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lvl="2"/>
            <a:r>
              <a:rPr lang="en-US" dirty="0"/>
              <a:t>Rebuild of Nullable(T).</a:t>
            </a:r>
          </a:p>
          <a:p>
            <a:pPr lvl="2"/>
            <a:r>
              <a:rPr lang="en-US" dirty="0"/>
              <a:t>Drops range support.</a:t>
            </a:r>
          </a:p>
          <a:p>
            <a:endParaRPr lang="en-US" dirty="0"/>
          </a:p>
          <a:p>
            <a:r>
              <a:rPr lang="en-US" dirty="0"/>
              <a:t>None are merged into the main repo yet.</a:t>
            </a:r>
          </a:p>
        </p:txBody>
      </p:sp>
    </p:spTree>
    <p:extLst>
      <p:ext uri="{BB962C8B-B14F-4D97-AF65-F5344CB8AC3E}">
        <p14:creationId xmlns:p14="http://schemas.microsoft.com/office/powerpoint/2010/main" val="454378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B752A-60C0-E27E-ED57-C07E48C5D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Progress is an Issue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81711-78E6-D582-CCDD-6266BBF3D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Ranges are used everywhere in Phobos.</a:t>
            </a:r>
          </a:p>
          <a:p>
            <a:pPr lvl="1"/>
            <a:r>
              <a:rPr lang="en-US" dirty="0"/>
              <a:t>Not much can be done without them.</a:t>
            </a:r>
          </a:p>
          <a:p>
            <a:pPr lvl="1"/>
            <a:r>
              <a:rPr lang="en-US" dirty="0"/>
              <a:t>One person is working on ranges in their spare time.</a:t>
            </a:r>
          </a:p>
          <a:p>
            <a:pPr lvl="1"/>
            <a:r>
              <a:rPr lang="en-US" dirty="0"/>
              <a:t>Walter and I both agree that LLM’s are not suited to this work.</a:t>
            </a:r>
          </a:p>
          <a:p>
            <a:pPr lvl="2"/>
            <a:r>
              <a:rPr lang="en-US" dirty="0"/>
              <a:t>There is very little public material for LLM’s to use when considering Ranges.</a:t>
            </a:r>
          </a:p>
        </p:txBody>
      </p:sp>
    </p:spTree>
    <p:extLst>
      <p:ext uri="{BB962C8B-B14F-4D97-AF65-F5344CB8AC3E}">
        <p14:creationId xmlns:p14="http://schemas.microsoft.com/office/powerpoint/2010/main" val="3709232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722A3-EA90-0FE0-1814-F60948005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84F0D-39ED-9B66-B222-A3A904247F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Candidate Libraries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888DA-2038-1394-B34E-5C2ED22DE6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754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B3E86-F367-6197-B15C-7BFC340E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Candidate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2E99C-0D3C-14B2-39F6-9BCEBB3A3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not all required Phobos 3 modules are available.</a:t>
            </a:r>
          </a:p>
          <a:p>
            <a:r>
              <a:rPr lang="en-US" dirty="0"/>
              <a:t>Develop Phobos 3 modules before dependent modules are built.</a:t>
            </a:r>
          </a:p>
          <a:p>
            <a:r>
              <a:rPr lang="en-US" dirty="0"/>
              <a:t>Focus on API design and implementation.</a:t>
            </a:r>
          </a:p>
          <a:p>
            <a:r>
              <a:rPr lang="en-US" dirty="0"/>
              <a:t>Competing libraries encouraged.</a:t>
            </a:r>
          </a:p>
          <a:p>
            <a:pPr lvl="1"/>
            <a:r>
              <a:rPr lang="en-US" dirty="0"/>
              <a:t>Libraries to be hosted on the </a:t>
            </a:r>
            <a:r>
              <a:rPr lang="en-US" dirty="0" err="1"/>
              <a:t>DLang</a:t>
            </a:r>
            <a:r>
              <a:rPr lang="en-US" dirty="0"/>
              <a:t> GitHub account.</a:t>
            </a:r>
          </a:p>
          <a:p>
            <a:pPr lvl="1"/>
            <a:r>
              <a:rPr lang="en-US" dirty="0"/>
              <a:t>Competitors are subpackages named by original name or GH username.</a:t>
            </a:r>
          </a:p>
          <a:p>
            <a:pPr lvl="2"/>
            <a:r>
              <a:rPr lang="en-US" dirty="0"/>
              <a:t>Original Name: 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phobos.data.json.jsoniopie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Username : 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phobos.data.json.lightbender</a:t>
            </a:r>
            <a:r>
              <a:rPr lang="en-US" dirty="0"/>
              <a:t> (My GH username)</a:t>
            </a:r>
          </a:p>
          <a:p>
            <a:r>
              <a:rPr lang="en-US" dirty="0"/>
              <a:t>Library user may user either or both.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420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8FACE-E06C-B14C-C9F4-C9F26FB2F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Candidate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B0BDB-2A91-1DA1-69A8-BC2C3D683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Must use the 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phobos</a:t>
            </a:r>
            <a:r>
              <a:rPr lang="en-US" dirty="0"/>
              <a:t> top-level package.</a:t>
            </a:r>
          </a:p>
          <a:p>
            <a:r>
              <a:rPr lang="en-US" dirty="0"/>
              <a:t>May use Phobos 2 in implementation and </a:t>
            </a:r>
            <a:r>
              <a:rPr lang="en-US" dirty="0" err="1"/>
              <a:t>unittests</a:t>
            </a:r>
            <a:r>
              <a:rPr lang="en-US" dirty="0"/>
              <a:t>.</a:t>
            </a:r>
          </a:p>
          <a:p>
            <a:r>
              <a:rPr lang="en-US" dirty="0"/>
              <a:t>Must </a:t>
            </a:r>
            <a:r>
              <a:rPr lang="en-US" b="1" i="1" u="sng" dirty="0"/>
              <a:t>not</a:t>
            </a:r>
            <a:r>
              <a:rPr lang="en-US" dirty="0"/>
              <a:t> use Phobos 2 types in the public API surface.</a:t>
            </a:r>
          </a:p>
          <a:p>
            <a:r>
              <a:rPr lang="en-US" dirty="0"/>
              <a:t>Must </a:t>
            </a:r>
            <a:r>
              <a:rPr lang="en-US" b="1" i="1" u="sng" dirty="0"/>
              <a:t>not</a:t>
            </a:r>
            <a:r>
              <a:rPr lang="en-US" dirty="0"/>
              <a:t> trigger auto-decoding.</a:t>
            </a:r>
          </a:p>
          <a:p>
            <a:r>
              <a:rPr lang="en-US" dirty="0"/>
              <a:t>Must follow the Phobos 2/3 Style Guides.</a:t>
            </a:r>
          </a:p>
          <a:p>
            <a:r>
              <a:rPr lang="en-US" dirty="0"/>
              <a:t>Must promptly replace Phobos 2 modules with Phobos 3 modules as they become available.</a:t>
            </a:r>
          </a:p>
        </p:txBody>
      </p:sp>
    </p:spTree>
    <p:extLst>
      <p:ext uri="{BB962C8B-B14F-4D97-AF65-F5344CB8AC3E}">
        <p14:creationId xmlns:p14="http://schemas.microsoft.com/office/powerpoint/2010/main" val="851510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AD755-9D18-EA6E-777E-5BE987632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Candidate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A628A-6EA3-84B3-A5EC-586DE5C9E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Maintainer must be willing to support library during development.</a:t>
            </a:r>
          </a:p>
          <a:p>
            <a:r>
              <a:rPr lang="en-US" dirty="0"/>
              <a:t>Library cannot be included in Phobos 3 until all dependencies are available in Phobos 3.</a:t>
            </a:r>
          </a:p>
          <a:p>
            <a:r>
              <a:rPr lang="en-US" dirty="0"/>
              <a:t>The implementation must pass community review prior to inclusion in Phobos 3.</a:t>
            </a:r>
          </a:p>
          <a:p>
            <a:r>
              <a:rPr lang="en-US" dirty="0"/>
              <a:t>In the case of multiple implementations, the community will vote on which library will be included in Phobos 3.</a:t>
            </a:r>
          </a:p>
          <a:p>
            <a:pPr lvl="1"/>
            <a:r>
              <a:rPr lang="en-US" dirty="0"/>
              <a:t>Other implementations will be removed and the winner rolled up to the primary package name. Ex: 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phobos.data.json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809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8B706-1508-8EED-6C31-C9205F030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Candidate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C9457-0028-F16A-C76B-5489C2F9F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APIs are considered unstable until formal inclusion in Phobos 3.</a:t>
            </a:r>
          </a:p>
          <a:p>
            <a:r>
              <a:rPr lang="en-US" dirty="0"/>
              <a:t>No backwards compatibility with older D versions.</a:t>
            </a:r>
          </a:p>
          <a:p>
            <a:pPr lvl="1"/>
            <a:r>
              <a:rPr lang="en-US" dirty="0"/>
              <a:t>Assume the latest compiler is required.</a:t>
            </a:r>
          </a:p>
          <a:p>
            <a:r>
              <a:rPr lang="en-US" dirty="0"/>
              <a:t>Your testing and feedback is greatly appreciated.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Please contact me if you want to submit a candidate library.</a:t>
            </a:r>
          </a:p>
        </p:txBody>
      </p:sp>
    </p:spTree>
    <p:extLst>
      <p:ext uri="{BB962C8B-B14F-4D97-AF65-F5344CB8AC3E}">
        <p14:creationId xmlns:p14="http://schemas.microsoft.com/office/powerpoint/2010/main" val="2210607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4BE39-BBFA-8D1F-3C08-F78E6397F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phobos.sys.exttypes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2C696-29DF-5228-821C-9E7FDDDA5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phobos.sys.decimal</a:t>
            </a:r>
            <a:r>
              <a:rPr lang="en-US" dirty="0"/>
              <a:t>: IEEE 754-2008 compliant decimal type.</a:t>
            </a:r>
          </a:p>
          <a:p>
            <a:pPr lvl="1"/>
            <a:r>
              <a:rPr lang="en-US" dirty="0" err="1"/>
              <a:t>Implments</a:t>
            </a:r>
            <a:r>
              <a:rPr lang="en-US" dirty="0"/>
              <a:t> Decimal32/Decimal64/Decimal128.</a:t>
            </a:r>
          </a:p>
          <a:p>
            <a:pPr lvl="1"/>
            <a:r>
              <a:rPr lang="en-US" dirty="0"/>
              <a:t>Aliases ‘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decimal</a:t>
            </a:r>
            <a:r>
              <a:rPr lang="en-US" dirty="0"/>
              <a:t>’ to Decimal128.</a:t>
            </a:r>
          </a:p>
          <a:p>
            <a:pPr lvl="1"/>
            <a:r>
              <a:rPr lang="en-US" dirty="0"/>
              <a:t>Extensive </a:t>
            </a:r>
            <a:r>
              <a:rPr lang="en-US" dirty="0" err="1"/>
              <a:t>unittests</a:t>
            </a:r>
            <a:r>
              <a:rPr lang="en-US" dirty="0"/>
              <a:t> drawing from multiple public test libraries.</a:t>
            </a:r>
          </a:p>
          <a:p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phobos.sys.network</a:t>
            </a:r>
            <a:r>
              <a:rPr lang="en-US" dirty="0"/>
              <a:t>: Network address types</a:t>
            </a:r>
          </a:p>
          <a:p>
            <a:pPr lvl="1"/>
            <a:r>
              <a:rPr lang="en-US" dirty="0"/>
              <a:t>Can represent the following address types</a:t>
            </a:r>
          </a:p>
          <a:p>
            <a:pPr lvl="2"/>
            <a:r>
              <a:rPr lang="en-US" dirty="0"/>
              <a:t>IPv4/6 Address/CIDR</a:t>
            </a:r>
          </a:p>
          <a:p>
            <a:pPr lvl="2"/>
            <a:r>
              <a:rPr lang="en-US" dirty="0" err="1"/>
              <a:t>MACAddress</a:t>
            </a:r>
            <a:r>
              <a:rPr lang="en-US" dirty="0"/>
              <a:t> and EUI64Address</a:t>
            </a:r>
          </a:p>
          <a:p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phobos.sys.semver</a:t>
            </a:r>
            <a:r>
              <a:rPr lang="en-US" dirty="0"/>
              <a:t>: </a:t>
            </a:r>
            <a:r>
              <a:rPr lang="en-US" dirty="0" err="1"/>
              <a:t>SemVer</a:t>
            </a:r>
            <a:r>
              <a:rPr lang="en-US" dirty="0"/>
              <a:t> 2.0 Compliant type</a:t>
            </a:r>
          </a:p>
          <a:p>
            <a:r>
              <a:rPr lang="en-US" dirty="0"/>
              <a:t>GitHub: </a:t>
            </a:r>
            <a:r>
              <a:rPr lang="en-US" dirty="0">
                <a:hlinkClick r:id="rId2"/>
              </a:rPr>
              <a:t>https://github.com/LightBender/phobos.sys.exttypes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412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36C40-427B-DA54-2016-1659471C9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phobos.text.stringbuilder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F8E8C-4BC9-7E8B-B53E-DD97C2070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Replicates .NET’s StringBuilder functionality in D.</a:t>
            </a:r>
          </a:p>
          <a:p>
            <a:r>
              <a:rPr lang="en-US" dirty="0"/>
              <a:t>Utilizes D’s Interpolated Expression Syntax.</a:t>
            </a:r>
          </a:p>
          <a:p>
            <a:r>
              <a:rPr lang="en-US" dirty="0"/>
              <a:t>Can improve performance in heavy append/allocation scenarios.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GitHub: </a:t>
            </a:r>
            <a:r>
              <a:rPr lang="en-US" dirty="0">
                <a:hlinkClick r:id="rId2"/>
              </a:rPr>
              <a:t>https://github.com/LightBender/phobos.text.stringbuilder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042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40C78-BDEA-DB3A-A80A-04924D376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phobos.data.compression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C844E-F431-E593-4472-BE881E462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Usage: Buffers, Streaming, and Archiving</a:t>
            </a:r>
          </a:p>
          <a:p>
            <a:r>
              <a:rPr lang="en-US" dirty="0"/>
              <a:t>Codecs: Store, Deflate, </a:t>
            </a:r>
            <a:r>
              <a:rPr lang="en-US" dirty="0" err="1"/>
              <a:t>ZLib</a:t>
            </a:r>
            <a:r>
              <a:rPr lang="en-US" dirty="0"/>
              <a:t>, </a:t>
            </a:r>
            <a:r>
              <a:rPr lang="en-US" dirty="0" err="1"/>
              <a:t>GZip</a:t>
            </a:r>
            <a:r>
              <a:rPr lang="en-US" dirty="0"/>
              <a:t>, and </a:t>
            </a:r>
            <a:r>
              <a:rPr lang="en-US" dirty="0" err="1"/>
              <a:t>ZStandard</a:t>
            </a:r>
            <a:endParaRPr lang="en-US" dirty="0"/>
          </a:p>
          <a:p>
            <a:r>
              <a:rPr lang="en-US" dirty="0"/>
              <a:t>Archives: TAR, GZIP, ZIP, ZIP64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GitHub: </a:t>
            </a:r>
            <a:r>
              <a:rPr lang="en-US" dirty="0">
                <a:hlinkClick r:id="rId2"/>
              </a:rPr>
              <a:t>https://github.com/LightBender/phobos.data.compression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216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0E05-D98F-1BE6-313A-4F7C2673A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phobos.database.sql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B5570-0C5C-94A3-B379-2B9861830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API similar to JDBC or ADO.NET.</a:t>
            </a:r>
          </a:p>
          <a:p>
            <a:r>
              <a:rPr lang="en-US" dirty="0"/>
              <a:t>Uses D’s IES to guard against SQL injection attacks.</a:t>
            </a:r>
          </a:p>
          <a:p>
            <a:r>
              <a:rPr lang="en-US" dirty="0"/>
              <a:t>Leverages </a:t>
            </a:r>
            <a:r>
              <a:rPr lang="en-US" dirty="0" err="1"/>
              <a:t>phobos.sys.decimal</a:t>
            </a:r>
            <a:r>
              <a:rPr lang="en-US" dirty="0"/>
              <a:t> for the DECIMAL, NUMERIC, and MONEY SQL types.</a:t>
            </a:r>
          </a:p>
          <a:p>
            <a:r>
              <a:rPr lang="en-US" dirty="0"/>
              <a:t>Uses ODBC to interface with any ODBC compliant SQL database.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GitHub: </a:t>
            </a:r>
            <a:r>
              <a:rPr lang="en-US" dirty="0">
                <a:hlinkClick r:id="rId2"/>
              </a:rPr>
              <a:t>https://github.com/LightBender/phobos.database.sql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1965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A6F26-0FFC-0066-4607-22DE68372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1DE4A-70C7-883B-34DE-C286F316F4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Enter LLMs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E7DA2-0481-8998-BADD-88EDDFBB72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22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D7CA2-386C-7C36-B778-1EF20246C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LLMs are Controversial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5B1EB-728E-E453-F731-4FBBEA49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Potential Copyright Issues.</a:t>
            </a:r>
          </a:p>
          <a:p>
            <a:pPr lvl="1"/>
            <a:r>
              <a:rPr lang="en-US" dirty="0"/>
              <a:t>These are going to be specific to your jurisdiction.</a:t>
            </a:r>
          </a:p>
          <a:p>
            <a:pPr lvl="1"/>
            <a:r>
              <a:rPr lang="en-US" dirty="0"/>
              <a:t>Seek local counsel.</a:t>
            </a:r>
          </a:p>
          <a:p>
            <a:r>
              <a:rPr lang="en-US" dirty="0"/>
              <a:t>Concerns over “Slop” code.</a:t>
            </a:r>
          </a:p>
          <a:p>
            <a:pPr lvl="1"/>
            <a:r>
              <a:rPr lang="en-US" dirty="0"/>
              <a:t>If it is detectable “slop” then it would never have passed our pre-LLM review process.</a:t>
            </a:r>
          </a:p>
          <a:p>
            <a:pPr lvl="1"/>
            <a:r>
              <a:rPr lang="en-US" dirty="0"/>
              <a:t>If it is </a:t>
            </a:r>
            <a:r>
              <a:rPr lang="en-US" b="1" i="1" u="sng" dirty="0"/>
              <a:t>not</a:t>
            </a:r>
            <a:r>
              <a:rPr lang="en-US" dirty="0"/>
              <a:t> detectable “slop” then it would have passed.</a:t>
            </a:r>
          </a:p>
          <a:p>
            <a:r>
              <a:rPr lang="en-US" dirty="0"/>
              <a:t>Attribution Enforcement</a:t>
            </a:r>
          </a:p>
          <a:p>
            <a:pPr lvl="1"/>
            <a:r>
              <a:rPr lang="en-US" dirty="0"/>
              <a:t>If it’s not detectable “slop” then a contributor can lie about LLM usage and we wouldn’t know.</a:t>
            </a:r>
          </a:p>
          <a:p>
            <a:pPr lvl="1"/>
            <a:r>
              <a:rPr lang="en-US" dirty="0"/>
              <a:t>The honor system prevails.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8609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93CD7-C506-C8CE-810E-E88829F3C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Allow LLMs?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E1A41-DE39-018F-166A-F9BCEE405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LLMs compress the time to implement features.</a:t>
            </a:r>
          </a:p>
          <a:p>
            <a:r>
              <a:rPr lang="en-US" dirty="0"/>
              <a:t>We don’t have the contributor numbers that other languages do.</a:t>
            </a:r>
          </a:p>
          <a:p>
            <a:r>
              <a:rPr lang="en-US" dirty="0"/>
              <a:t>Unlike other OSS projects, reviews are not our bottleneck.</a:t>
            </a:r>
          </a:p>
          <a:p>
            <a:r>
              <a:rPr lang="en-US" dirty="0"/>
              <a:t>We are already behind other major languages/ecosystems.</a:t>
            </a:r>
          </a:p>
          <a:p>
            <a:pPr lvl="1"/>
            <a:r>
              <a:rPr lang="en-US" dirty="0"/>
              <a:t>Without LLMs we can only fall further behind.</a:t>
            </a:r>
          </a:p>
        </p:txBody>
      </p:sp>
    </p:spTree>
    <p:extLst>
      <p:ext uri="{BB962C8B-B14F-4D97-AF65-F5344CB8AC3E}">
        <p14:creationId xmlns:p14="http://schemas.microsoft.com/office/powerpoint/2010/main" val="3198309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84497-AC3D-F2AA-54B3-ADD5A7608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DLF LLM Contribution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64D61-4300-1491-CBE1-1BCCFA07B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Contributors are responsible for what they submit, including ensuring that copyright standards are met.</a:t>
            </a:r>
          </a:p>
          <a:p>
            <a:r>
              <a:rPr lang="en-US" dirty="0"/>
              <a:t>Contributors must understand the code they submit well enough to answer review questions without LLM assistance.</a:t>
            </a:r>
          </a:p>
          <a:p>
            <a:r>
              <a:rPr lang="en-US" dirty="0"/>
              <a:t>Engineering and review standards are unchanged.</a:t>
            </a:r>
          </a:p>
          <a:p>
            <a:r>
              <a:rPr lang="en-US" dirty="0"/>
              <a:t>If a reviewer suspects infringement, they may request more information or reject the submission.</a:t>
            </a:r>
          </a:p>
          <a:p>
            <a:r>
              <a:rPr lang="en-US" dirty="0"/>
              <a:t>DLF will investigate credible claims of infringement.</a:t>
            </a:r>
          </a:p>
          <a:p>
            <a:r>
              <a:rPr lang="en-US" dirty="0"/>
              <a:t>Phobos 3 is a DLF project and will follow these rules.</a:t>
            </a:r>
          </a:p>
        </p:txBody>
      </p:sp>
    </p:spTree>
    <p:extLst>
      <p:ext uri="{BB962C8B-B14F-4D97-AF65-F5344CB8AC3E}">
        <p14:creationId xmlns:p14="http://schemas.microsoft.com/office/powerpoint/2010/main" val="24127671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F1347-3E67-7D3D-573A-63B6D32CC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LLM Guidelines for Phobos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C28A1-39E4-B768-7472-58A948D82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 must note that an LLM was used.</a:t>
            </a:r>
          </a:p>
          <a:p>
            <a:r>
              <a:rPr lang="en-US" dirty="0"/>
              <a:t>Bug Fixes: Must include the prompt used to fix the bug in the PR.</a:t>
            </a:r>
          </a:p>
          <a:p>
            <a:r>
              <a:rPr lang="en-US" dirty="0"/>
              <a:t>New Features/Modules: Must include the plans that the LLM generates to complete the project, in addition to the initial prompt/s.</a:t>
            </a:r>
          </a:p>
          <a:p>
            <a:pPr lvl="1"/>
            <a:r>
              <a:rPr lang="en-US" dirty="0"/>
              <a:t>Plans are considered part of the codebase and stored in the Repo.</a:t>
            </a:r>
          </a:p>
          <a:p>
            <a:pPr lvl="1"/>
            <a:r>
              <a:rPr lang="en-US" dirty="0"/>
              <a:t>Example Plan Path: /phobos/llm-plans/path/to/module/plan-name.md</a:t>
            </a:r>
          </a:p>
          <a:p>
            <a:r>
              <a:rPr lang="en-US" dirty="0"/>
              <a:t>Using LLM’s for pure research, no code generated, does not require any annotation or prompt/plan logging.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6123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B8FB0-2C3D-591C-E9BD-E4BB4728E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Candidate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70702-95A2-8262-1987-C6A99BB35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Candidate libraries can be developed faster with LLMs.</a:t>
            </a:r>
          </a:p>
          <a:p>
            <a:r>
              <a:rPr lang="en-US" dirty="0"/>
              <a:t>LLMs have no trouble mixing Phobos 2 and 3.</a:t>
            </a:r>
          </a:p>
          <a:p>
            <a:pPr lvl="1"/>
            <a:r>
              <a:rPr lang="en-US" dirty="0"/>
              <a:t>Need to watch them carefully for Phobos 2 pollution of the API.</a:t>
            </a:r>
          </a:p>
          <a:p>
            <a:r>
              <a:rPr lang="en-US" dirty="0"/>
              <a:t>Allows us to quickly generate multiple competing designs.</a:t>
            </a:r>
          </a:p>
          <a:p>
            <a:pPr lvl="1"/>
            <a:r>
              <a:rPr lang="en-US" dirty="0"/>
              <a:t>Which means we can get to the correct design much quicker.</a:t>
            </a:r>
          </a:p>
          <a:p>
            <a:pPr lvl="1"/>
            <a:r>
              <a:rPr lang="en-US" dirty="0"/>
              <a:t>Prior to LLMs such design competitions would’ve been expensive.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7093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3C27B-DC21-2418-E928-FA272ECB7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E2145-D4D2-C86C-B9B4-92176AFA5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Candidate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9BD04-B08B-6911-4F10-DA5A7BB16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four libraries mentioned earlier were created with LLMs.</a:t>
            </a:r>
          </a:p>
          <a:p>
            <a:r>
              <a:rPr lang="en-US" dirty="0"/>
              <a:t>All four libraries are used in production code.</a:t>
            </a:r>
          </a:p>
          <a:p>
            <a:r>
              <a:rPr lang="en-US" dirty="0"/>
              <a:t>They serve as a test for the candidate library concept.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6632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19378-1B8E-409F-5FAC-F168AE64E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Library Scope Expansion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7C840-AE4A-2B68-B6D3-4E03851B0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accept that LLMs compress implementation times.</a:t>
            </a:r>
          </a:p>
          <a:p>
            <a:pPr lvl="1"/>
            <a:r>
              <a:rPr lang="en-US" dirty="0"/>
              <a:t>We can choose to expand the scope of Phobos.</a:t>
            </a:r>
          </a:p>
          <a:p>
            <a:pPr lvl="1"/>
            <a:r>
              <a:rPr lang="en-US" dirty="0"/>
              <a:t>We have already determined that we wanted to expand scope to include:</a:t>
            </a:r>
          </a:p>
          <a:p>
            <a:pPr lvl="2"/>
            <a:r>
              <a:rPr lang="en-US" dirty="0"/>
              <a:t>Data Formats, Cryptography, and HTTP Clients.</a:t>
            </a:r>
          </a:p>
          <a:p>
            <a:pPr lvl="1"/>
            <a:r>
              <a:rPr lang="en-US" dirty="0"/>
              <a:t>But there is a critical capability missing from this expanded scope.</a:t>
            </a:r>
          </a:p>
        </p:txBody>
      </p:sp>
    </p:spTree>
    <p:extLst>
      <p:ext uri="{BB962C8B-B14F-4D97-AF65-F5344CB8AC3E}">
        <p14:creationId xmlns:p14="http://schemas.microsoft.com/office/powerpoint/2010/main" val="15363695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02234-5808-D27A-8C18-2F9116EAA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Event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6384A-0E9F-777F-CFCD-1C9E74962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unified event loop system for all platforms.</a:t>
            </a:r>
          </a:p>
          <a:p>
            <a:r>
              <a:rPr lang="en-US" dirty="0"/>
              <a:t>Gives library authors a single interface to build on.</a:t>
            </a:r>
          </a:p>
          <a:p>
            <a:r>
              <a:rPr lang="en-US" dirty="0"/>
              <a:t>Enables </a:t>
            </a:r>
            <a:r>
              <a:rPr lang="en-US" dirty="0" err="1"/>
              <a:t>Stackless</a:t>
            </a:r>
            <a:r>
              <a:rPr lang="en-US" dirty="0"/>
              <a:t> Coroutines.</a:t>
            </a:r>
          </a:p>
          <a:p>
            <a:r>
              <a:rPr lang="en-US" dirty="0"/>
              <a:t>Enables UI message loops.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6223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47B60-4546-AEAE-5A64-111B4E966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Phobos 3 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09FC9-289D-21F9-E91E-B160E9981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Content Placeholder 6">
            <a:extLst>
              <a:ext uri="{FF2B5EF4-FFF2-40B4-BE49-F238E27FC236}">
                <a16:creationId xmlns:a16="http://schemas.microsoft.com/office/drawing/2014/main" id="{307823B7-AE1E-7A64-F455-E9C0381F16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8621778"/>
              </p:ext>
            </p:extLst>
          </p:nvPr>
        </p:nvGraphicFramePr>
        <p:xfrm>
          <a:off x="838200" y="2161436"/>
          <a:ext cx="10515600" cy="36797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89523232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10477775"/>
                    </a:ext>
                  </a:extLst>
                </a:gridCol>
              </a:tblGrid>
              <a:tr h="919929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Phobos 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410144"/>
                  </a:ext>
                </a:extLst>
              </a:tr>
              <a:tr h="91992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D Runtime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Event Loop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055571"/>
                  </a:ext>
                </a:extLst>
              </a:tr>
              <a:tr h="91992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BaseD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Async Primitives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227450"/>
                  </a:ext>
                </a:extLst>
              </a:tr>
              <a:tr h="919929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Platform API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81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1880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F9DDCC-BF82-603A-C507-93A1A97680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46"/>
          <a:stretch>
            <a:fillRect/>
          </a:stretch>
        </p:blipFill>
        <p:spPr>
          <a:xfrm>
            <a:off x="-531743" y="-297779"/>
            <a:ext cx="12723743" cy="71557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153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D334-7FE2-72A7-1571-5072464EB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000" dirty="0"/>
              <a:t>Thank You!</a:t>
            </a:r>
          </a:p>
        </p:txBody>
      </p:sp>
      <p:pic>
        <p:nvPicPr>
          <p:cNvPr id="5" name="Content Placeholder 4" descr="A letter d in motion&#10;&#10;AI-generated content may be incorrect.">
            <a:extLst>
              <a:ext uri="{FF2B5EF4-FFF2-40B4-BE49-F238E27FC236}">
                <a16:creationId xmlns:a16="http://schemas.microsoft.com/office/drawing/2014/main" id="{2CFD5FCD-95BB-4D18-2EC8-423C188F4F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071" y="2204240"/>
            <a:ext cx="4871858" cy="3710990"/>
          </a:xfrm>
        </p:spPr>
      </p:pic>
    </p:spTree>
    <p:extLst>
      <p:ext uri="{BB962C8B-B14F-4D97-AF65-F5344CB8AC3E}">
        <p14:creationId xmlns:p14="http://schemas.microsoft.com/office/powerpoint/2010/main" val="17662979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1BD98-FCA9-3340-08D3-22FB27C82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4B35A-812E-0A52-E2C8-546CEF262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GitHub: </a:t>
            </a:r>
            <a:r>
              <a:rPr lang="en-US" dirty="0">
                <a:hlinkClick r:id="rId2"/>
              </a:rPr>
              <a:t>https://github.com/lightbender</a:t>
            </a:r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3"/>
              </a:rPr>
              <a:t>adamdjwilson@gmail.com</a:t>
            </a:r>
            <a:endParaRPr lang="en-US" dirty="0"/>
          </a:p>
          <a:p>
            <a:r>
              <a:rPr lang="en-US" dirty="0"/>
              <a:t>Discord: @Adam Wilson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915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12149</TotalTime>
  <Words>1513</Words>
  <Application>Microsoft Office PowerPoint</Application>
  <PresentationFormat>Widescreen</PresentationFormat>
  <Paragraphs>207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Cascadia Code</vt:lpstr>
      <vt:lpstr>Office Theme</vt:lpstr>
      <vt:lpstr>LLMs in the Standard Library</vt:lpstr>
      <vt:lpstr>PowerPoint Presentation</vt:lpstr>
      <vt:lpstr>Why Phobos 3?</vt:lpstr>
      <vt:lpstr>Walter’s Original Goals</vt:lpstr>
      <vt:lpstr>Walter’s Goals Today</vt:lpstr>
      <vt:lpstr>Why Phobos 3?</vt:lpstr>
      <vt:lpstr>Where is BaseD?</vt:lpstr>
      <vt:lpstr>Status Update</vt:lpstr>
      <vt:lpstr>Where Are We Today?</vt:lpstr>
      <vt:lpstr>Where Are We Today?</vt:lpstr>
      <vt:lpstr>Progress is an Issue</vt:lpstr>
      <vt:lpstr>Candidate Libraries</vt:lpstr>
      <vt:lpstr>Candidate Libraries</vt:lpstr>
      <vt:lpstr>Candidate Libraries</vt:lpstr>
      <vt:lpstr>Candidate Libraries</vt:lpstr>
      <vt:lpstr>Candidate Libraries</vt:lpstr>
      <vt:lpstr>phobos.sys.exttypes</vt:lpstr>
      <vt:lpstr>phobos.text.stringbuilder</vt:lpstr>
      <vt:lpstr>phobos.data.compression</vt:lpstr>
      <vt:lpstr>phobos.database.sql</vt:lpstr>
      <vt:lpstr>Enter LLMs</vt:lpstr>
      <vt:lpstr>LLMs are Controversial</vt:lpstr>
      <vt:lpstr>Why Allow LLMs?</vt:lpstr>
      <vt:lpstr>DLF LLM Contribution Guidelines</vt:lpstr>
      <vt:lpstr>LLM Guidelines for Phobos 3</vt:lpstr>
      <vt:lpstr>Candidate Libraries</vt:lpstr>
      <vt:lpstr>Candidate Libraries</vt:lpstr>
      <vt:lpstr>Library Scope Expansion</vt:lpstr>
      <vt:lpstr>Event Loops</vt:lpstr>
      <vt:lpstr> Phobos 3 Technology Stack</vt:lpstr>
      <vt:lpstr>PowerPoint Presentation</vt:lpstr>
      <vt:lpstr>Thank You!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Wilson</dc:creator>
  <cp:lastModifiedBy>Adam Wilson</cp:lastModifiedBy>
  <cp:revision>57</cp:revision>
  <dcterms:created xsi:type="dcterms:W3CDTF">2026-08-23T01:57:21Z</dcterms:created>
  <dcterms:modified xsi:type="dcterms:W3CDTF">2026-09-02T09:21:07Z</dcterms:modified>
</cp:coreProperties>
</file>